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F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FFC000">
              <a:alpha val="70196"/>
            </a:srgbClr>
          </a:solidFill>
          <a:ln cap="flat" cmpd="sng" w="12700">
            <a:solidFill>
              <a:srgbClr val="FFC00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2286000"/>
            <a:ext cx="4114800" cy="4114800"/>
          </a:xfrm>
          <a:prstGeom prst="ellipse">
            <a:avLst/>
          </a:prstGeom>
          <a:solidFill>
            <a:srgbClr val="E8F4F4">
              <a:alpha val="80000"/>
            </a:srgbClr>
          </a:solidFill>
          <a:ln cap="flat" cmpd="sng" w="12700">
            <a:solidFill>
              <a:srgbClr val="E8F4F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828800" y="457200"/>
            <a:ext cx="3200400" cy="3200400"/>
          </a:xfrm>
          <a:prstGeom prst="ellipse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206240" y="731520"/>
            <a:ext cx="475488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206240" y="1371600"/>
            <a:ext cx="54864" cy="18288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389120" y="1280160"/>
            <a:ext cx="4389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S&amp;P 500 Sentiment-Driven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Trading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389120" y="2834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Interim Presentation —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389120" y="3291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Costache Darius Daniel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389120" y="36576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Grid Dynamics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End-to-end pipeline: from raw data to trading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0040" y="1005840"/>
            <a:ext cx="160020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0040" y="1005840"/>
            <a:ext cx="1600200" cy="41148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20040" y="10058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20040" y="146304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217627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Kaggle CSV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17,800 headlines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984248" y="19933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057400" y="1005840"/>
            <a:ext cx="160020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057400" y="1005840"/>
            <a:ext cx="1600200" cy="41148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057400" y="10058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057400" y="146304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057400" y="217627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FinBERT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transformers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721608" y="19933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794760" y="1005840"/>
            <a:ext cx="160020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794760" y="1005840"/>
            <a:ext cx="1600200" cy="41148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794760" y="10058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794760" y="146304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794760" y="217627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16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58968" y="19933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532120" y="1005840"/>
            <a:ext cx="160020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532120" y="1005840"/>
            <a:ext cx="1600200" cy="4114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532120" y="10058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532120" y="146304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532120" y="217627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walk-forward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196328" y="19933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269480" y="1005840"/>
            <a:ext cx="160020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269480" y="1005840"/>
            <a:ext cx="1600200" cy="41148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269480" y="10058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269480" y="146304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&amp; Backtest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69480" y="217627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sklearn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20040" y="3337560"/>
            <a:ext cx="8549640" cy="54864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11480" y="3447288"/>
            <a:ext cx="14173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11480" y="34655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11480" y="365760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Kaggle CSV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2010–2024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148840" y="3447288"/>
            <a:ext cx="14173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148840" y="34655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148840" y="365760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3,311 prices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17,800 articles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86200" y="3447288"/>
            <a:ext cx="14173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86200" y="34655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886200" y="365760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 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per day (3,310d)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623560" y="3447288"/>
            <a:ext cx="14173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623560" y="34655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623560" y="365760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3,297 rows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16 features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360920" y="3447288"/>
            <a:ext cx="14173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360920" y="34655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360920" y="365760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xgb_model.pkl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acc=0.508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20040" y="4315968"/>
            <a:ext cx="8549640" cy="182880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11480" y="432511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Final Output: Trading signal (Up/Down)  |  Accuracy 50.8%  |  48 walk-forward folds  |  3,024 days tested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14400" y="98755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14630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17,800 headlines from Kaggle dataset (2010–2024) paired with S&amp;P 500 daily prices. One headline per trading day — covers 3,311 days fully.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663440" y="960120"/>
            <a:ext cx="457200" cy="4572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663440" y="960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212080" y="98755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663440" y="14630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FinBERT (ProsusAI) classifies each headline as positive, negative or neutral — pre-trained on financial text. 3,310 days with sentiment coverage.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760" y="2788920"/>
            <a:ext cx="457200" cy="4572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576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914400" y="281635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760" y="32918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16 features: RSI, MACD, ATR, volatility, returns + sentiment lags (1/2/3d), moving averages (5/20d), sentiment_change, article_count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663440" y="2788920"/>
            <a:ext cx="457200" cy="4572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66344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212080" y="281635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XGBoost + Walk-Forward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663440" y="32918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48 folds of walk-forward validation on 3,024 days. Always trains on past, tests on future — simulates real trading. Mean accuracy 50.8% (±0.071)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Step 1 — Data Collection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6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6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Library: pandas  |  Source: Kaggle sp500_headlines_2008_2024.csv  |  Output: news.csv, prices.csv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65760" y="1024128"/>
            <a:ext cx="54864" cy="356616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Why Kaggle instead of RSS?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" y="141732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RSS feeds only return the last 2-3 days of news — no historical archive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1892808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First version had 60 articles covering only 45 days out of 501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2368296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Kaggle dataset: 17,800 headlines from 2008 to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2843784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START_DATE = '2010-01-01' → 3,311 trading days fully 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3319272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One headline per trading day — consistent, clean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63440" y="1024128"/>
            <a:ext cx="54864" cy="356616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846320" y="10241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What the CSV contains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Column Title → renamed to 'title' — the news headline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846320" y="184708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Column Date → renamed to 'date' — format YYYY-MM-DD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46320" y="227685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Column CP → renamed to 'close_price' — S&amp;P 500 close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46320" y="270662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Prices and news extracted from same CSV in one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46320" y="313639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drop_duplicates on title removes any repeated headlines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46320" y="35661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sort_values on date ensures chronological order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65760" y="4572000"/>
            <a:ext cx="8503920" cy="201168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" y="4581144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✓  Result: 17,800 headlines loaded  |  3,311 days of price data  |  Sentiment coverage: 99.9% of trading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Step 2 — Sentiment Analysis (FinBERT)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Libraries: transformers, torch  |  Model: ProsusAI/finbert  |  Output: sentiment_daily.csv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65760" y="1024128"/>
            <a:ext cx="4114800" cy="1508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65760" y="1024128"/>
            <a:ext cx="4114800" cy="64008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Why FinBERT?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14173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Generic models count positive/negative words.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FinBERT was pre-trained on financial texts: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"earnings miss" → negative  |  "beats expectations" → positive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663440" y="1024128"/>
            <a:ext cx="4114800" cy="1508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663440" y="1024128"/>
            <a:ext cx="4114800" cy="64008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00600" y="14173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1. Tokenizer: headline text → numbers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2. Model outputs 3 raw scores (logits)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3. Softmax → [pos, neg, neu] summing to 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4. Sentiment = label with highest probability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65760" y="26974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Technical 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65760" y="30632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Batch size: 16 headlines — avoids memory overflow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663440" y="30632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Net score = prob_positive − prob_negative  (−1 to +1)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65760" y="3447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padding=True, truncation=True, max_length=128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663440" y="3447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Daily score = weighted avg, confidence as weight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65760" y="383133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torch.no_grad() — no gradients, saves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663440" y="383133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Formula: Σ(score × confidence) / Σ(confidence)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5760" y="4572000"/>
            <a:ext cx="8503920" cy="201168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57200" y="4581144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✓  Result: 17,800 headlines analyzed  |  Scores for 3,310 days (99.9% coverage)  |  vs 45 days in V1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Step 3 — Feature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8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8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Library: pandas  |  Input: prices.csv + sentiment_daily.csv  |  Output: features.csv  (3,297 rows × 16 features)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65760" y="10241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Price-Based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65760" y="1344168"/>
            <a:ext cx="4114800" cy="36576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65760" y="142646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daily_return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011680" y="142646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Daily % change in Close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5760" y="179222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return_5d / return_20d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011680" y="179222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 and 20-day momentum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65760" y="215798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rsi_14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011680" y="215798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Overbought (&gt;70) / oversold (&lt;30)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65760" y="25237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volatility_5d / 20d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011680" y="252374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Std dev of daily returns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65760" y="288950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macd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011680" y="288950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EMA(12) − EMA(26) trend signal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325526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atr_14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011680" y="325526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Average True Range — daily swing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65760" y="362102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volume_ratio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011680" y="362102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Volume vs 20-day average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65760" y="398678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price_vs_ma20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011680" y="398678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Close vs 20-day moving average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63440" y="10241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Sentiment-Based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663440" y="1344168"/>
            <a:ext cx="4114800" cy="36576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663440" y="142646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sentiment_score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583680" y="142646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Today's weighted sentiment (−1 to +1)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663440" y="183794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sentiment_lag1/2/3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583680" y="183794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 from 1, 2, 3 days ago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663440" y="22494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sentiment_ma5/ma20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583680" y="224942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 and 20-day moving average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663440" y="266090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sentiment_change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583680" y="266090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Diff vs yesterday — sudden shifts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663440" y="307238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article_count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583680" y="307238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Articles published that 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663440" y="3520440"/>
            <a:ext cx="4114800" cy="960120"/>
          </a:xfrm>
          <a:prstGeom prst="rect">
            <a:avLst/>
          </a:prstGeom>
          <a:solidFill>
            <a:srgbClr val="FFF8E1"/>
          </a:solidFill>
          <a:ln cap="flat" cmpd="sng" w="10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754880" y="35661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⚠  Target Definition — Critical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754880" y="384048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target = (Close.pct_change().shift(−1) &gt; 0).astype(int)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shift(−1) = TOMORROW's return, not today's.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Without this, the model predicts the past — not the future.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65760" y="4572000"/>
            <a:ext cx="8503920" cy="201168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57200" y="4581144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✓  Result: 3,297 rows × 16 features  |  1,798 up days (54.3%)  |  1,513 down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Step 4 — Model Training (XGBoost)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Libraries: xgboost, scikit-learn  |  Output: models/xgb_model.pkl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65760" y="1024128"/>
            <a:ext cx="4023360" cy="1371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65760" y="1024128"/>
            <a:ext cx="4023360" cy="64008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Why XGBoost?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02920" y="141732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Gradient boosted trees handle mixed feature types (prices + sentiment) without normalization. Fast to train, robust to outliers, and provides feature importances natively.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754880" y="1024128"/>
            <a:ext cx="4114800" cy="1371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754880" y="1024128"/>
            <a:ext cx="4114800" cy="64008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Why Walk-Forward?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892040" y="141732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Financial data is temporal — random shuffle leaks future into training. Walk-forward always trains on the past and tests on the future, simulating real trading conditions.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65760" y="25420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Best Hyperparameters (Grid Search)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65760" y="290779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920240" y="2907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468880" y="290779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number of trees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65760" y="33009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920240" y="3300984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468880" y="33009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max depth per tree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65760" y="369417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learning_rate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920240" y="3694176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468880" y="369417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step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65760" y="408736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subsample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920240" y="408736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468880" y="408736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use all data per tree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754880" y="25420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Selected Walk-Forward Folds (48 total)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754880" y="2907792"/>
            <a:ext cx="640080" cy="41148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754880" y="2907792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486400" y="29260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Fold 5  |  2012-09-17 to 2012-12-17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486400" y="31089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acc=0.571 f1=0.585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754880" y="3456432"/>
            <a:ext cx="640080" cy="41148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754880" y="3456432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486400" y="34747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Fold 25  |  2017-12-22 to 2018-03-27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486400" y="365760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acc=0.508 f1=0.516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754880" y="4005072"/>
            <a:ext cx="640080" cy="41148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754880" y="4005072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86400" y="40233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Fold 28  |  2018-10-03 to 2019-01-07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486400" y="4206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acc=0.365 f1=0.429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65760" y="4572000"/>
            <a:ext cx="8503920" cy="201168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57200" y="4581144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✓  48 folds completed  |  Mean accuracy 0.508 (±0.071)  |  Mean F1: 0.516 (±0.113)  |  3,024 days tested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0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0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What the XGBoost model relies on most — 7 out of 12 top features are sentiment-based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2860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Privileged and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869680" y="4828032"/>
            <a:ext cx="228600" cy="25603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760720" y="1554480"/>
            <a:ext cx="54864" cy="548640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5943600" y="1508760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price_vs_ma20 (7.9%)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Price vs 20-day average — strongest predictor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760720" y="2359152"/>
            <a:ext cx="54864" cy="54864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5943600" y="23134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rsi_14 (7.3%)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Overbought/oversold — 2nd most important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760720" y="3163824"/>
            <a:ext cx="54864" cy="5486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943600" y="3118104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sentiment_lag1 (7.0%)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Yesterday's sentiment matters more than today's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760720" y="3968496"/>
            <a:ext cx="54864" cy="548640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5943600" y="3922776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sentiment_ma5 (6.9%)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 out of 12 top features are sentiment-based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0" title="feature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92" y="1158240"/>
            <a:ext cx="5069063" cy="353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65760" y="16459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Step 5 — Evaluation &amp;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1"/>
          <p:cNvCxnSpPr/>
          <p:nvPr/>
        </p:nvCxnSpPr>
        <p:spPr>
          <a:xfrm>
            <a:off x="365760" y="71323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1"/>
          <p:cNvSpPr/>
          <p:nvPr/>
        </p:nvSpPr>
        <p:spPr>
          <a:xfrm>
            <a:off x="365760" y="74980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Libraries: scikit-learn, matplotlib  |  3,024 days tested across 48 walk-forward folds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S&amp;P 500 Sentiment Trading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65760" y="10241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Classification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65760" y="1344168"/>
            <a:ext cx="4023360" cy="36576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365760" y="142646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737360" y="1426464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0.508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2286000" y="1426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51% correct — vs 50% random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Precision (Up)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737360" y="1865376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2286000" y="1865376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Correct 55% of time when predicting 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Recall (Up)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737360" y="2304288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2286000" y="230428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Catches 51% of actual Up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65760" y="27432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737360" y="274320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0.529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2286000" y="27432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Harmonic mean of precision and 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65760" y="318211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6B"/>
                </a:solidFill>
                <a:latin typeface="Calibri"/>
                <a:ea typeface="Calibri"/>
                <a:cs typeface="Calibri"/>
                <a:sym typeface="Calibri"/>
              </a:rPr>
              <a:t>Precision (Down)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737360" y="318211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0.47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2286000" y="318211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Harder — market goes up 54% of the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365760" y="3749040"/>
            <a:ext cx="4023360" cy="36576"/>
          </a:xfrm>
          <a:prstGeom prst="rect">
            <a:avLst/>
          </a:prstGeom>
          <a:solidFill>
            <a:srgbClr val="006B6B"/>
          </a:solidFill>
          <a:ln cap="flat" cmpd="sng" w="12700">
            <a:solidFill>
              <a:srgbClr val="00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365760" y="3785616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65760" y="411480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50.8% vs 50% random — consistent over 3,024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365760" y="4370832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7/12 top features are sentiment — hypothesis validated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65760" y="4626864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sentiment_lag1 ranks #3 — market reacts with 1-day delay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65760" y="488289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  One headline/day limits signal — needs multiple sources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11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700" y="1005850"/>
            <a:ext cx="4425976" cy="4086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